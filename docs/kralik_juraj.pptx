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8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chart2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65" r:id="rId4"/>
    <p:sldMasterId id="2147483668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16.xml"/><Relationship Id="rId5" Type="http://schemas.openxmlformats.org/officeDocument/2006/relationships/slideMaster" Target="slideMasters/slideMaster18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3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rPr>
              <a:t>Porovnanie modelov podľa WER a CER</a:t>
            </a:r>
          </a:p>
        </c:rich>
      </c:tx>
      <c:layout>
        <c:manualLayout>
          <c:xMode val="edge"/>
          <c:yMode val="edge"/>
          <c:x val="0.284464703708267"/>
          <c:y val="0.0176866646568184"/>
        </c:manualLayout>
      </c:layout>
      <c:overlay val="0"/>
      <c:spPr>
        <a:noFill/>
        <a:ln w="0">
          <a:noFill/>
        </a:ln>
      </c:spPr>
    </c:title>
    <c:autoTitleDeleted val="0"/>
    <c:plotArea>
      <c:layout>
        <c:manualLayout>
          <c:layoutTarget val="inner"/>
          <c:xMode val="edge"/>
          <c:yMode val="edge"/>
          <c:x val="0.441480842675865"/>
          <c:y val="0.118782031956587"/>
          <c:w val="0.37027226807934"/>
          <c:h val="0.72424881921414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Average WER</c:v>
                </c:pt>
              </c:strCache>
            </c:strRef>
          </c:tx>
          <c:spPr>
            <a:solidFill>
              <a:srgbClr val="18a303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5"/>
                <c:pt idx="0">
                  <c:v>whisper_tiny</c:v>
                </c:pt>
                <c:pt idx="1">
                  <c:v>whisper_base</c:v>
                </c:pt>
                <c:pt idx="2">
                  <c:v>whisper_small</c:v>
                </c:pt>
                <c:pt idx="3">
                  <c:v>huggingface_wav2vec2_xlsr_czech</c:v>
                </c:pt>
                <c:pt idx="4">
                  <c:v>whisper_medium</c:v>
                </c:pt>
                <c:pt idx="5">
                  <c:v>faster_whisper_medium_float16_cuda</c:v>
                </c:pt>
                <c:pt idx="6">
                  <c:v>speech_recognition_vosk</c:v>
                </c:pt>
                <c:pt idx="7">
                  <c:v>huggingface_wav2vec2_xlsr_53_czech</c:v>
                </c:pt>
                <c:pt idx="8">
                  <c:v>faster_whisper_large_float16_cuda</c:v>
                </c:pt>
                <c:pt idx="9">
                  <c:v>speech_recognition_groq</c:v>
                </c:pt>
                <c:pt idx="10">
                  <c:v>huggingface_wav2vec2_xlsr_czech_sammy</c:v>
                </c:pt>
                <c:pt idx="11">
                  <c:v>speech_recognition_google</c:v>
                </c:pt>
                <c:pt idx="12">
                  <c:v>whisper_large</c:v>
                </c:pt>
                <c:pt idx="13">
                  <c:v>huggingface_whisper_medium_czech</c:v>
                </c:pt>
                <c:pt idx="14">
                  <c:v>huggingface_whisper_large_v3_czech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5"/>
                <c:pt idx="0">
                  <c:v>0.908138646571831</c:v>
                </c:pt>
                <c:pt idx="1">
                  <c:v>0.732145359088816</c:v>
                </c:pt>
                <c:pt idx="2">
                  <c:v>0.418928020613512</c:v>
                </c:pt>
                <c:pt idx="3">
                  <c:v>0.395130170015131</c:v>
                </c:pt>
                <c:pt idx="4">
                  <c:v>0.236012416163012</c:v>
                </c:pt>
                <c:pt idx="5">
                  <c:v>0.212571002672446</c:v>
                </c:pt>
                <c:pt idx="6">
                  <c:v>0.174985413000473</c:v>
                </c:pt>
                <c:pt idx="7">
                  <c:v>0.164664052820296</c:v>
                </c:pt>
                <c:pt idx="8">
                  <c:v>0.157541755617472</c:v>
                </c:pt>
                <c:pt idx="9">
                  <c:v>0.140363740121024</c:v>
                </c:pt>
                <c:pt idx="10">
                  <c:v>0.137222644731534</c:v>
                </c:pt>
                <c:pt idx="11">
                  <c:v>0.119678415800646</c:v>
                </c:pt>
                <c:pt idx="12">
                  <c:v>0.112411016667618</c:v>
                </c:pt>
                <c:pt idx="13">
                  <c:v>0.0914443287122927</c:v>
                </c:pt>
                <c:pt idx="14">
                  <c:v>0.0441468721692524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Average CER</c:v>
                </c:pt>
              </c:strCache>
            </c:strRef>
          </c:tx>
          <c:spPr>
            <a:solidFill>
              <a:srgbClr val="0369a3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5"/>
                <c:pt idx="0">
                  <c:v>whisper_tiny</c:v>
                </c:pt>
                <c:pt idx="1">
                  <c:v>whisper_base</c:v>
                </c:pt>
                <c:pt idx="2">
                  <c:v>whisper_small</c:v>
                </c:pt>
                <c:pt idx="3">
                  <c:v>huggingface_wav2vec2_xlsr_czech</c:v>
                </c:pt>
                <c:pt idx="4">
                  <c:v>whisper_medium</c:v>
                </c:pt>
                <c:pt idx="5">
                  <c:v>faster_whisper_medium_float16_cuda</c:v>
                </c:pt>
                <c:pt idx="6">
                  <c:v>speech_recognition_vosk</c:v>
                </c:pt>
                <c:pt idx="7">
                  <c:v>huggingface_wav2vec2_xlsr_53_czech</c:v>
                </c:pt>
                <c:pt idx="8">
                  <c:v>faster_whisper_large_float16_cuda</c:v>
                </c:pt>
                <c:pt idx="9">
                  <c:v>speech_recognition_groq</c:v>
                </c:pt>
                <c:pt idx="10">
                  <c:v>huggingface_wav2vec2_xlsr_czech_sammy</c:v>
                </c:pt>
                <c:pt idx="11">
                  <c:v>speech_recognition_google</c:v>
                </c:pt>
                <c:pt idx="12">
                  <c:v>whisper_large</c:v>
                </c:pt>
                <c:pt idx="13">
                  <c:v>huggingface_whisper_medium_czech</c:v>
                </c:pt>
                <c:pt idx="14">
                  <c:v>huggingface_whisper_large_v3_czech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5"/>
                <c:pt idx="0">
                  <c:v>0.396456691370473</c:v>
                </c:pt>
                <c:pt idx="1">
                  <c:v>0.279014130933508</c:v>
                </c:pt>
                <c:pt idx="2">
                  <c:v>0.131130033920739</c:v>
                </c:pt>
                <c:pt idx="3">
                  <c:v>0.083912055247766</c:v>
                </c:pt>
                <c:pt idx="4">
                  <c:v>0.0711634580873181</c:v>
                </c:pt>
                <c:pt idx="5">
                  <c:v>0.0599086107996893</c:v>
                </c:pt>
                <c:pt idx="6">
                  <c:v>0.0629669593903209</c:v>
                </c:pt>
                <c:pt idx="7">
                  <c:v>0.034608729144128</c:v>
                </c:pt>
                <c:pt idx="8">
                  <c:v>0.0463268620757961</c:v>
                </c:pt>
                <c:pt idx="9">
                  <c:v>0.0415494509686245</c:v>
                </c:pt>
                <c:pt idx="10">
                  <c:v>0.027455556100141</c:v>
                </c:pt>
                <c:pt idx="11">
                  <c:v>0.0460638599643128</c:v>
                </c:pt>
                <c:pt idx="12">
                  <c:v>0.0332052892550728</c:v>
                </c:pt>
                <c:pt idx="13">
                  <c:v>0.0226342666643933</c:v>
                </c:pt>
                <c:pt idx="14">
                  <c:v>0.0108465551141083</c:v>
                </c:pt>
              </c:numCache>
            </c:numRef>
          </c:val>
        </c:ser>
        <c:gapWidth val="100"/>
        <c:overlap val="0"/>
        <c:axId val="38681753"/>
        <c:axId val="79899146"/>
      </c:barChart>
      <c:catAx>
        <c:axId val="38681753"/>
        <c:scaling>
          <c:orientation val="minMax"/>
        </c:scaling>
        <c:delete val="0"/>
        <c:axPos val="b"/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9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Model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79899146"/>
        <c:crosses val="autoZero"/>
        <c:auto val="1"/>
        <c:lblAlgn val="ctr"/>
        <c:lblOffset val="100"/>
        <c:noMultiLvlLbl val="0"/>
      </c:catAx>
      <c:valAx>
        <c:axId val="79899146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9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WER a CER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38681753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solidFill>
      <a:srgbClr val="dddddd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3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rPr>
              <a:t>Rýchlosť prepisu modelov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>
        <c:manualLayout>
          <c:layoutTarget val="inner"/>
          <c:xMode val="edge"/>
          <c:yMode val="edge"/>
          <c:x val="0.441677175283733"/>
          <c:y val="0.140401785714286"/>
          <c:w val="0.492370744010088"/>
          <c:h val="0.65044642857142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Average transcript ratio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3"/>
                <c:pt idx="0">
                  <c:v>huggingface_wav2vec2_xlsr_czech</c:v>
                </c:pt>
                <c:pt idx="1">
                  <c:v>whisper_base</c:v>
                </c:pt>
                <c:pt idx="2">
                  <c:v>whisper_small</c:v>
                </c:pt>
                <c:pt idx="3">
                  <c:v>whisper_tiny</c:v>
                </c:pt>
                <c:pt idx="4">
                  <c:v>speech_recognition_vosk</c:v>
                </c:pt>
                <c:pt idx="5">
                  <c:v>huggingface_wav2vec2_xlsr_53_czech</c:v>
                </c:pt>
                <c:pt idx="6">
                  <c:v>whisper_medium</c:v>
                </c:pt>
                <c:pt idx="7">
                  <c:v>faster_whisper_medium_float16_cuda</c:v>
                </c:pt>
                <c:pt idx="8">
                  <c:v>faster_whisper_large_float16_cuda</c:v>
                </c:pt>
                <c:pt idx="9">
                  <c:v>speech_recognition_google</c:v>
                </c:pt>
                <c:pt idx="10">
                  <c:v>huggingface_whisper_large_v3_czech</c:v>
                </c:pt>
                <c:pt idx="11">
                  <c:v>huggingface_wav2vec2_xlsr_czech_sammy</c:v>
                </c:pt>
                <c:pt idx="12">
                  <c:v>huggingface_whisper_medium_czech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3"/>
                <c:pt idx="0">
                  <c:v>0.0441173506620093</c:v>
                </c:pt>
                <c:pt idx="1">
                  <c:v>0.058864187630119</c:v>
                </c:pt>
                <c:pt idx="2">
                  <c:v>0.0737053906193861</c:v>
                </c:pt>
                <c:pt idx="3">
                  <c:v>0.0932991636551523</c:v>
                </c:pt>
                <c:pt idx="4">
                  <c:v>0.111690524931908</c:v>
                </c:pt>
                <c:pt idx="5">
                  <c:v>0.121666608441389</c:v>
                </c:pt>
                <c:pt idx="6">
                  <c:v>0.130435018511475</c:v>
                </c:pt>
                <c:pt idx="7">
                  <c:v>0.136177451289278</c:v>
                </c:pt>
                <c:pt idx="8">
                  <c:v>0.153283050739494</c:v>
                </c:pt>
                <c:pt idx="9">
                  <c:v>0.228220963777834</c:v>
                </c:pt>
                <c:pt idx="10">
                  <c:v>0.256016071870918</c:v>
                </c:pt>
                <c:pt idx="11">
                  <c:v>0.285522869842013</c:v>
                </c:pt>
                <c:pt idx="12">
                  <c:v>0.795146019510512</c:v>
                </c:pt>
              </c:numCache>
            </c:numRef>
          </c:val>
        </c:ser>
        <c:gapWidth val="100"/>
        <c:overlap val="0"/>
        <c:axId val="29541999"/>
        <c:axId val="97529189"/>
      </c:barChart>
      <c:catAx>
        <c:axId val="29541999"/>
        <c:scaling>
          <c:orientation val="minMax"/>
        </c:scaling>
        <c:delete val="0"/>
        <c:axPos val="b"/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9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Model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7529189"/>
        <c:crosses val="autoZero"/>
        <c:auto val="1"/>
        <c:lblAlgn val="ctr"/>
        <c:lblOffset val="100"/>
        <c:noMultiLvlLbl val="0"/>
      </c:catAx>
      <c:valAx>
        <c:axId val="97529189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9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Sekundy spracovania na 1 sekundu audia</a:t>
                </a:r>
              </a:p>
            </c:rich>
          </c:tx>
          <c:layout>
            <c:manualLayout>
              <c:xMode val="edge"/>
              <c:yMode val="edge"/>
              <c:x val="0.446153846153846"/>
              <c:y val="0.884709821428572"/>
            </c:manualLayout>
          </c:layout>
          <c:overlay val="0"/>
          <c:spPr>
            <a:noFill/>
            <a:ln w="0">
              <a:noFill/>
            </a:ln>
          </c:spPr>
        </c:title>
        <c:numFmt formatCode="0.0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9541999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plotVisOnly val="1"/>
    <c:dispBlanksAs val="gap"/>
  </c:chart>
  <c:spPr>
    <a:solidFill>
      <a:srgbClr val="dddddd"/>
    </a:solidFill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7160" y="956880"/>
            <a:ext cx="8596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4FA726-7CB0-40F2-8EF8-EDC52E3C2E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va obsah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32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33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34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</a:t>
            </a: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lze upravit </a:t>
            </a: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styl.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418320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Čtvrtá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Pátá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5090040" y="2160720"/>
            <a:ext cx="418320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Čtvrtá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Pátá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4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5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6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3B12FC-F367-450A-8F14-4F7F9C8077BA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ovnání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49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50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51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75720" y="2161080"/>
            <a:ext cx="4185000" cy="57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75720" y="2737080"/>
            <a:ext cx="4185000" cy="33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předlohy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</a:t>
            </a: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</a:t>
            </a: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rtá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á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á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5088240" y="2161080"/>
            <a:ext cx="4185000" cy="57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</a:t>
            </a:r>
            <a:r>
              <a:rPr lang="cs-CZ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předlohy </a:t>
            </a:r>
            <a:r>
              <a:rPr lang="cs-CZ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textu.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5088240" y="2737080"/>
            <a:ext cx="4185000" cy="33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předlohy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</a:t>
            </a: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</a:t>
            </a: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rtá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á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á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dt" idx="7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7"/>
          <p:cNvSpPr>
            <a:spLocks noGrp="1"/>
          </p:cNvSpPr>
          <p:nvPr>
            <p:ph type="ftr" idx="8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8"/>
          <p:cNvSpPr>
            <a:spLocks noGrp="1"/>
          </p:cNvSpPr>
          <p:nvPr>
            <p:ph type="sldNum" idx="9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AB166B-995B-4E69-B037-CD2577293B8F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Jenom nadp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68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69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70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dt" idx="10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ftr" idx="1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1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0F8295-B7A7-425C-80E9-1DC2DCB47193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ázdn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83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84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85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PlaceHolder 1"/>
          <p:cNvSpPr>
            <a:spLocks noGrp="1"/>
          </p:cNvSpPr>
          <p:nvPr>
            <p:ph type="dt" idx="1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ftr" idx="14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15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3FF4EA-9BAD-437B-A178-0F8D08D22EF2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sah s titulk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97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98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99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77160" y="1498680"/>
            <a:ext cx="3853800" cy="127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</a:t>
            </a:r>
            <a:r>
              <a:rPr lang="cs-CZ" sz="2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styl.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760640" y="514800"/>
            <a:ext cx="4512960" cy="552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předlohy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</a:t>
            </a: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</a:t>
            </a: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rtá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úro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á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á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ú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77160" y="2777040"/>
            <a:ext cx="3853800" cy="258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16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ftr" idx="17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sldNum" idx="18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DF9605-7808-47A1-A021-F12D541646AA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ázek s titulk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14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1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1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77160" y="4800600"/>
            <a:ext cx="85960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8596080" cy="3845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16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Kliknutím na ikonu přidáte obrázek.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677160" y="5367240"/>
            <a:ext cx="8596080" cy="67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</a:t>
            </a: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textu.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dt" idx="19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ftr" idx="20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sldNum" idx="21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293844-5CF0-454A-9F9C-65AD2905350A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ázev a popise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31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32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33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340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6080" cy="157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dt" idx="22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 type="ftr" idx="23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5"/>
          <p:cNvSpPr>
            <a:spLocks noGrp="1"/>
          </p:cNvSpPr>
          <p:nvPr>
            <p:ph type="sldNum" idx="24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B71CE5-E48F-4274-9550-50D78E6FBC66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tace s popisk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47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48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49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520" cy="302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</a:t>
            </a: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lze upravit </a:t>
            </a: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styl.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1366200" y="3632040"/>
            <a:ext cx="7223760" cy="38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/>
          </p:nvPr>
        </p:nvSpPr>
        <p:spPr>
          <a:xfrm>
            <a:off x="677160" y="4470480"/>
            <a:ext cx="8596080" cy="157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dt" idx="25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 type="ftr" idx="26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 type="sldNum" idx="27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1B4F4A-ACDF-42EC-9A88-845F4245125D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TextBox 19"/>
          <p:cNvSpPr/>
          <p:nvPr/>
        </p:nvSpPr>
        <p:spPr>
          <a:xfrm>
            <a:off x="541800" y="790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1"/>
          <p:cNvSpPr/>
          <p:nvPr/>
        </p:nvSpPr>
        <p:spPr>
          <a:xfrm>
            <a:off x="8893080" y="288648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Jmenovk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66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67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68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77160" y="1932120"/>
            <a:ext cx="8596080" cy="259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151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dt" idx="28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ftr" idx="29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sldNum" idx="30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B7F9B0-EDCC-4587-AD9C-CD33158D5C44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Jmenovka s citací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182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83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84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931320" y="609480"/>
            <a:ext cx="8093520" cy="302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6080" cy="5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151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Upravte styly </a:t>
            </a:r>
            <a:r>
              <a:rPr lang="cs-CZ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 type="dt" idx="31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5"/>
          <p:cNvSpPr>
            <a:spLocks noGrp="1"/>
          </p:cNvSpPr>
          <p:nvPr>
            <p:ph type="ftr" idx="32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6"/>
          <p:cNvSpPr>
            <a:spLocks noGrp="1"/>
          </p:cNvSpPr>
          <p:nvPr>
            <p:ph type="sldNum" idx="33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CC7ABA-0AFF-4531-A5D1-FDAF5ADFB3D7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TextBox 23"/>
          <p:cNvSpPr/>
          <p:nvPr/>
        </p:nvSpPr>
        <p:spPr>
          <a:xfrm>
            <a:off x="541800" y="790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24"/>
          <p:cNvSpPr/>
          <p:nvPr/>
        </p:nvSpPr>
        <p:spPr>
          <a:xfrm>
            <a:off x="8893080" y="288648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avda nebo neprav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01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02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03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8587440" cy="302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4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77160" y="4013280"/>
            <a:ext cx="8596080" cy="5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2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151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dt" idx="34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5"/>
          <p:cNvSpPr>
            <a:spLocks noGrp="1"/>
          </p:cNvSpPr>
          <p:nvPr>
            <p:ph type="ftr" idx="35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PlaceHolder 6"/>
          <p:cNvSpPr>
            <a:spLocks noGrp="1"/>
          </p:cNvSpPr>
          <p:nvPr>
            <p:ph type="sldNum" idx="36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11BB89-5901-4AEF-885D-CAF99F4A5AA1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Nadpis a svislý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7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18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19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20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1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</a:t>
            </a: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Čtvrtá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Pátá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dt" idx="37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ftr" idx="38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 type="sldNum" idx="39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8F1943-CD47-4657-B9FA-E7294136B05B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vislý nadpis a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34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3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3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8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7967520" y="609480"/>
            <a:ext cx="1303920" cy="52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77160" y="609480"/>
            <a:ext cx="7059600" cy="52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Druhá úroveň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Třetí úroveň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Čtvrtá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cs-CZ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Pátá úroveň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dt" idx="40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ftr" idx="4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PlaceHolder 5"/>
          <p:cNvSpPr>
            <a:spLocks noGrp="1"/>
          </p:cNvSpPr>
          <p:nvPr>
            <p:ph type="sldNum" idx="4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05AFC6-3870-4734-82B1-C8EDF4E6BEF7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áhlaví část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50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51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52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3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4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677160" y="2700720"/>
            <a:ext cx="8596080" cy="182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cs-CZ" sz="40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Kliknutím lze upravit styl.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77160" y="4527360"/>
            <a:ext cx="8596080" cy="85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cs-CZ" sz="20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Upravte styly předlohy textu.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dt" idx="4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rebuchet MS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 type="ftr" idx="44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PlaceHolder 5"/>
          <p:cNvSpPr>
            <a:spLocks noGrp="1"/>
          </p:cNvSpPr>
          <p:nvPr>
            <p:ph type="sldNum" idx="45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C6D87C-5298-4A92-BE21-957703E1958B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5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66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67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68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1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2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3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4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5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77160" y="1132200"/>
            <a:ext cx="8596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ftr" idx="46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sldNum" idx="47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E6BEA3-4A9D-463A-B66E-AF19CBAFD9F8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5"/>
          <p:cNvSpPr>
            <a:spLocks noGrp="1"/>
          </p:cNvSpPr>
          <p:nvPr>
            <p:ph type="dt" idx="48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82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83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84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5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6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7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77160" y="1132200"/>
            <a:ext cx="8596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ftr" idx="49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50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5432E3-43AA-446A-8CD2-81C4A2EF9075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dt" idx="51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677160" y="956880"/>
            <a:ext cx="8596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BDFAB3B3-F082-4592-8E47-5CB9CED103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77160" y="956880"/>
            <a:ext cx="8596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F6F22ADE-6211-4E9E-94F3-3B960A65A5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77160" y="956880"/>
            <a:ext cx="85960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485FC05-4578-4B60-A71A-DA1C615DED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3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4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5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6"/>
          <p:cNvGrpSpPr/>
          <p:nvPr/>
        </p:nvGrpSpPr>
        <p:grpSpPr>
          <a:xfrm>
            <a:off x="720" y="-8640"/>
            <a:ext cx="12190680" cy="6867000"/>
            <a:chOff x="720" y="-8640"/>
            <a:chExt cx="12190680" cy="6867000"/>
          </a:xfrm>
        </p:grpSpPr>
        <p:cxnSp>
          <p:nvCxnSpPr>
            <p:cNvPr id="14" name="Straight Connector 31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15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16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Isosceles Triangle 26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Isosceles Triangle 30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Isosceles Triangle 18"/>
            <p:cNvSpPr/>
            <p:nvPr/>
          </p:nvSpPr>
          <p:spPr>
            <a:xfrm rot="10800000">
              <a:off x="720" y="720"/>
              <a:ext cx="842040" cy="56653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77160" y="1132200"/>
            <a:ext cx="8596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0B15E7-FD79-419E-B5EE-7BDCB73CF9DA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5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  <p:sldLayoutId id="2147483667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6" name="Group 6"/>
          <p:cNvGrpSpPr/>
          <p:nvPr/>
        </p:nvGrpSpPr>
        <p:grpSpPr>
          <a:xfrm>
            <a:off x="0" y="-8640"/>
            <a:ext cx="12191400" cy="6867000"/>
            <a:chOff x="0" y="-8640"/>
            <a:chExt cx="12191400" cy="6867000"/>
          </a:xfrm>
        </p:grpSpPr>
        <p:cxnSp>
          <p:nvCxnSpPr>
            <p:cNvPr id="297" name="Straight Connector 19"/>
            <p:cNvCxnSpPr/>
            <p:nvPr/>
          </p:nvCxnSpPr>
          <p:spPr>
            <a:xfrm>
              <a:off x="9370800" y="0"/>
              <a:ext cx="1220040" cy="6858720"/>
            </a:xfrm>
            <a:prstGeom prst="straightConnector1">
              <a:avLst/>
            </a:prstGeom>
            <a:ln cap="rnd" w="9525">
              <a:solidFill>
                <a:srgbClr val="bfbfbf"/>
              </a:solidFill>
              <a:round/>
            </a:ln>
          </p:spPr>
        </p:cxnSp>
        <p:cxnSp>
          <p:nvCxnSpPr>
            <p:cNvPr id="298" name="Straight Connector 20"/>
            <p:cNvCxnSpPr/>
            <p:nvPr/>
          </p:nvCxnSpPr>
          <p:spPr>
            <a:xfrm flipH="1">
              <a:off x="7425000" y="3681360"/>
              <a:ext cx="4764240" cy="3177360"/>
            </a:xfrm>
            <a:prstGeom prst="straightConnector1">
              <a:avLst/>
            </a:prstGeom>
            <a:ln cap="rnd" w="9525">
              <a:solidFill>
                <a:srgbClr val="d9d9d9"/>
              </a:solidFill>
              <a:round/>
            </a:ln>
          </p:spPr>
        </p:cxnSp>
        <p:sp>
          <p:nvSpPr>
            <p:cNvPr id="299" name="Rectangle 23"/>
            <p:cNvSpPr/>
            <p:nvPr/>
          </p:nvSpPr>
          <p:spPr>
            <a:xfrm>
              <a:off x="9181440" y="-8640"/>
              <a:ext cx="3006720" cy="6865920"/>
            </a:xfrm>
            <a:custGeom>
              <a:avLst/>
              <a:gdLst>
                <a:gd name="textAreaLeft" fmla="*/ 0 w 3006720"/>
                <a:gd name="textAreaRight" fmla="*/ 3007440 w 3006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Rectangle 25"/>
            <p:cNvSpPr/>
            <p:nvPr/>
          </p:nvSpPr>
          <p:spPr>
            <a:xfrm>
              <a:off x="9603360" y="-8640"/>
              <a:ext cx="2587680" cy="6865920"/>
            </a:xfrm>
            <a:custGeom>
              <a:avLst/>
              <a:gdLst>
                <a:gd name="textAreaLeft" fmla="*/ 0 w 2587680"/>
                <a:gd name="textAreaRight" fmla="*/ 2588400 w 258768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Isosceles Triangle 23"/>
            <p:cNvSpPr/>
            <p:nvPr/>
          </p:nvSpPr>
          <p:spPr>
            <a:xfrm>
              <a:off x="8932320" y="3048120"/>
              <a:ext cx="3259080" cy="380916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2" name="Rectangle 27"/>
            <p:cNvSpPr/>
            <p:nvPr/>
          </p:nvSpPr>
          <p:spPr>
            <a:xfrm>
              <a:off x="9334440" y="-8640"/>
              <a:ext cx="2853720" cy="6865920"/>
            </a:xfrm>
            <a:custGeom>
              <a:avLst/>
              <a:gdLst>
                <a:gd name="textAreaLeft" fmla="*/ 0 w 2853720"/>
                <a:gd name="textAreaRight" fmla="*/ 2854440 w 28537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3" name="Rectangle 28"/>
            <p:cNvSpPr/>
            <p:nvPr/>
          </p:nvSpPr>
          <p:spPr>
            <a:xfrm>
              <a:off x="10898640" y="-8640"/>
              <a:ext cx="1289520" cy="6865920"/>
            </a:xfrm>
            <a:custGeom>
              <a:avLst/>
              <a:gdLst>
                <a:gd name="textAreaLeft" fmla="*/ 0 w 1289520"/>
                <a:gd name="textAreaRight" fmla="*/ 1290240 w 128952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4" name="Rectangle 29"/>
            <p:cNvSpPr/>
            <p:nvPr/>
          </p:nvSpPr>
          <p:spPr>
            <a:xfrm>
              <a:off x="10938960" y="-8640"/>
              <a:ext cx="1249200" cy="6865920"/>
            </a:xfrm>
            <a:custGeom>
              <a:avLst/>
              <a:gdLst>
                <a:gd name="textAreaLeft" fmla="*/ 0 w 1249200"/>
                <a:gd name="textAreaRight" fmla="*/ 1249920 w 1249200"/>
                <a:gd name="textAreaTop" fmla="*/ 0 h 6865920"/>
                <a:gd name="textAreaBottom" fmla="*/ 6866640 h 686592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Isosceles Triangle 27"/>
            <p:cNvSpPr/>
            <p:nvPr/>
          </p:nvSpPr>
          <p:spPr>
            <a:xfrm>
              <a:off x="10371600" y="3589920"/>
              <a:ext cx="1816560" cy="32673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Isosceles Triangle 28"/>
            <p:cNvSpPr/>
            <p:nvPr/>
          </p:nvSpPr>
          <p:spPr>
            <a:xfrm>
              <a:off x="0" y="4013280"/>
              <a:ext cx="447840" cy="28440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77160" y="1132200"/>
            <a:ext cx="85960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ftr" idx="52"/>
          </p:nvPr>
        </p:nvSpPr>
        <p:spPr>
          <a:xfrm>
            <a:off x="677160" y="6041520"/>
            <a:ext cx="6296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PlaceHolder 4"/>
          <p:cNvSpPr>
            <a:spLocks noGrp="1"/>
          </p:cNvSpPr>
          <p:nvPr>
            <p:ph type="sldNum" idx="53"/>
          </p:nvPr>
        </p:nvSpPr>
        <p:spPr>
          <a:xfrm>
            <a:off x="8590680" y="6041520"/>
            <a:ext cx="682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F73F2C-D944-4636-9BCD-C83287B581DD}" type="slidenum">
              <a:rPr lang="sk-SK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PlaceHolder 5"/>
          <p:cNvSpPr>
            <a:spLocks noGrp="1"/>
          </p:cNvSpPr>
          <p:nvPr>
            <p:ph type="dt" idx="54"/>
          </p:nvPr>
        </p:nvSpPr>
        <p:spPr>
          <a:xfrm>
            <a:off x="7205040" y="6041520"/>
            <a:ext cx="911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  <p:sldLayoutId id="2147483670" r:id="rId3"/>
    <p:sldLayoutId id="214748367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2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2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1506960" y="2404440"/>
            <a:ext cx="7766280" cy="164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Srovnán</a:t>
            </a: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í </a:t>
            </a: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současn</a:t>
            </a: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ých </a:t>
            </a: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modelů </a:t>
            </a: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Speech-</a:t>
            </a:r>
            <a:r>
              <a:rPr lang="sk-SK" sz="54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to-Text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subTitle"/>
          </p:nvPr>
        </p:nvSpPr>
        <p:spPr>
          <a:xfrm>
            <a:off x="1506960" y="5029200"/>
            <a:ext cx="7766280" cy="109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sk-SK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Bc. Juraj Králik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sk-SK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Vedúci: Ing. Peter Janků, Ph.D.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sk-SK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Konzultant: Ing. Adam Viktorin, Ph.D.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sk-SK" sz="18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Trebuchet MS"/>
              </a:rPr>
              <a:t>Diplomová práca, FAI UTB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Zadanie práce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677160" y="192960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Zoznámiť sa s technologiou Speech-to-text.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Vybrať vhodné dostupné modely pro STT.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Zostaviť metodiku porovnania vybraných modelov.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Vykonať testovanie a porovnanie modelov.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Vhodným spôsobom diskutujte a prezentujte výsledky porovnaní.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Aktuálny </a:t>
            </a: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stav (trendy)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677160" y="192960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Hlboké neuronové modely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API/local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Hardware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Podpora jazykov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Pracovné prostredie (SW)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/>
          </p:nvPr>
        </p:nvSpPr>
        <p:spPr>
          <a:xfrm>
            <a:off x="685800" y="182880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  <a:ea typeface="Noto Sans CJK SC"/>
              </a:rPr>
              <a:t>VS 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Python 3.14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venv + requirements.txt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Fedora/Nobara Linux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Modely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/>
          </p:nvPr>
        </p:nvSpPr>
        <p:spPr>
          <a:xfrm>
            <a:off x="677160" y="18349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Whisper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FastWhisper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API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HuggingFace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"/>
          <p:cNvPicPr/>
          <p:nvPr/>
        </p:nvPicPr>
        <p:blipFill>
          <a:blip r:embed="rId1"/>
          <a:stretch/>
        </p:blipFill>
        <p:spPr>
          <a:xfrm>
            <a:off x="4343400" y="3200400"/>
            <a:ext cx="1600200" cy="160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"/>
          <p:cNvPicPr/>
          <p:nvPr/>
        </p:nvPicPr>
        <p:blipFill>
          <a:blip r:embed="rId2"/>
          <a:stretch/>
        </p:blipFill>
        <p:spPr>
          <a:xfrm>
            <a:off x="1667520" y="5096520"/>
            <a:ext cx="1304280" cy="130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0" name=""/>
          <p:cNvPicPr/>
          <p:nvPr/>
        </p:nvPicPr>
        <p:blipFill>
          <a:blip r:embed="rId3"/>
          <a:stretch/>
        </p:blipFill>
        <p:spPr>
          <a:xfrm>
            <a:off x="3657600" y="5029200"/>
            <a:ext cx="1501920" cy="14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1" name=""/>
          <p:cNvPicPr/>
          <p:nvPr/>
        </p:nvPicPr>
        <p:blipFill>
          <a:blip r:embed="rId4"/>
          <a:stretch/>
        </p:blipFill>
        <p:spPr>
          <a:xfrm>
            <a:off x="2743200" y="3496320"/>
            <a:ext cx="1532880" cy="1532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"/>
          <p:cNvPicPr/>
          <p:nvPr/>
        </p:nvPicPr>
        <p:blipFill>
          <a:blip r:embed="rId5"/>
          <a:stretch/>
        </p:blipFill>
        <p:spPr>
          <a:xfrm>
            <a:off x="685800" y="3886200"/>
            <a:ext cx="1433880" cy="95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3" name=""/>
          <p:cNvPicPr/>
          <p:nvPr/>
        </p:nvPicPr>
        <p:blipFill>
          <a:blip r:embed="rId6"/>
          <a:stretch/>
        </p:blipFill>
        <p:spPr>
          <a:xfrm>
            <a:off x="6858000" y="1669320"/>
            <a:ext cx="3719880" cy="358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Dataset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677160" y="1600200"/>
            <a:ext cx="5495040" cy="68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Mozilla CommonVoice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1001"/>
              </a:spcBef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6" name=""/>
          <p:cNvPicPr/>
          <p:nvPr/>
        </p:nvPicPr>
        <p:blipFill>
          <a:blip r:embed="rId1"/>
          <a:stretch/>
        </p:blipFill>
        <p:spPr>
          <a:xfrm>
            <a:off x="1829880" y="2178000"/>
            <a:ext cx="1294920" cy="12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PlaceHolder 7"/>
          <p:cNvSpPr txBox="1"/>
          <p:nvPr/>
        </p:nvSpPr>
        <p:spPr>
          <a:xfrm>
            <a:off x="1296000" y="33210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65 452 x MP3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     (268h)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8" name=""/>
          <p:cNvPicPr/>
          <p:nvPr/>
        </p:nvPicPr>
        <p:blipFill>
          <a:blip r:embed="rId2"/>
          <a:stretch/>
        </p:blipFill>
        <p:spPr>
          <a:xfrm>
            <a:off x="4115880" y="2178000"/>
            <a:ext cx="1294920" cy="12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PlaceHolder 8"/>
          <p:cNvSpPr txBox="1"/>
          <p:nvPr/>
        </p:nvSpPr>
        <p:spPr>
          <a:xfrm>
            <a:off x="3582000" y="33210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15 000 x MP3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     (17,9h)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triped-right-arrow"/>
          <p:cNvSpPr/>
          <p:nvPr/>
        </p:nvSpPr>
        <p:spPr>
          <a:xfrm>
            <a:off x="3124800" y="2635200"/>
            <a:ext cx="914400" cy="457200"/>
          </a:xfrm>
          <a:prstGeom prst="striped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d4ea6b"/>
              </a:gs>
              <a:gs pos="100000">
                <a:srgbClr val="468a1a"/>
              </a:gs>
            </a:gsLst>
            <a:lin ang="9000000"/>
          </a:gradFill>
          <a:ln w="29160">
            <a:noFill/>
          </a:ln>
        </p:spPr>
        <p:style>
          <a:lnRef idx="0"/>
          <a:fillRef idx="0"/>
          <a:effectRef idx="0"/>
          <a:fontRef idx="minor"/>
        </p:style>
        <p:txBody>
          <a:bodyPr lIns="98280" rIns="98280" tIns="53280" bIns="532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341" name="striped-right-arrow 1"/>
          <p:cNvSpPr/>
          <p:nvPr/>
        </p:nvSpPr>
        <p:spPr>
          <a:xfrm>
            <a:off x="5410800" y="2635200"/>
            <a:ext cx="914400" cy="457200"/>
          </a:xfrm>
          <a:prstGeom prst="striped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d4ea6b"/>
              </a:gs>
              <a:gs pos="100000">
                <a:srgbClr val="468a1a"/>
              </a:gs>
            </a:gsLst>
            <a:lin ang="9000000"/>
          </a:gradFill>
          <a:ln w="29160">
            <a:noFill/>
          </a:ln>
        </p:spPr>
        <p:style>
          <a:lnRef idx="0"/>
          <a:fillRef idx="0"/>
          <a:effectRef idx="0"/>
          <a:fontRef idx="minor"/>
        </p:style>
        <p:txBody>
          <a:bodyPr lIns="98280" rIns="98280" tIns="53280" bIns="532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pic>
        <p:nvPicPr>
          <p:cNvPr id="342" name=""/>
          <p:cNvPicPr/>
          <p:nvPr/>
        </p:nvPicPr>
        <p:blipFill>
          <a:blip r:embed="rId3"/>
          <a:stretch/>
        </p:blipFill>
        <p:spPr>
          <a:xfrm>
            <a:off x="6401880" y="2178000"/>
            <a:ext cx="1294920" cy="12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PlaceHolder 9"/>
          <p:cNvSpPr txBox="1"/>
          <p:nvPr/>
        </p:nvSpPr>
        <p:spPr>
          <a:xfrm>
            <a:off x="5868000" y="33210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15 000 x WAV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      (17,9h)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"/>
          <p:cNvPicPr/>
          <p:nvPr/>
        </p:nvPicPr>
        <p:blipFill>
          <a:blip r:embed="rId4"/>
          <a:stretch/>
        </p:blipFill>
        <p:spPr>
          <a:xfrm>
            <a:off x="4000320" y="4572000"/>
            <a:ext cx="1028880" cy="137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0"/>
          <p:cNvSpPr txBox="1"/>
          <p:nvPr/>
        </p:nvSpPr>
        <p:spPr>
          <a:xfrm>
            <a:off x="3429000" y="59436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validated.tsv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Testovanie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CUDA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API limitácie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Nefunkčné modely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Paralelné testy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162h a 33m total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1001"/>
              </a:spcBef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457200">
              <a:lnSpc>
                <a:spcPct val="100000"/>
              </a:lnSpc>
              <a:spcBef>
                <a:spcPts val="1001"/>
              </a:spcBef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Výstupy testov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"/>
          <p:cNvPicPr/>
          <p:nvPr/>
        </p:nvPicPr>
        <p:blipFill>
          <a:blip r:embed="rId1"/>
          <a:stretch/>
        </p:blipFill>
        <p:spPr>
          <a:xfrm>
            <a:off x="477360" y="1343880"/>
            <a:ext cx="4551840" cy="368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0" name=""/>
          <p:cNvPicPr/>
          <p:nvPr/>
        </p:nvPicPr>
        <p:blipFill>
          <a:blip r:embed="rId2"/>
          <a:stretch/>
        </p:blipFill>
        <p:spPr>
          <a:xfrm>
            <a:off x="4343400" y="2658600"/>
            <a:ext cx="4837680" cy="374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Validácia výstupov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"/>
          <p:cNvPicPr/>
          <p:nvPr/>
        </p:nvPicPr>
        <p:blipFill>
          <a:blip r:embed="rId1"/>
          <a:stretch/>
        </p:blipFill>
        <p:spPr>
          <a:xfrm>
            <a:off x="496440" y="1476360"/>
            <a:ext cx="5218560" cy="3913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"/>
          <p:cNvPicPr/>
          <p:nvPr/>
        </p:nvPicPr>
        <p:blipFill>
          <a:blip r:embed="rId2"/>
          <a:stretch/>
        </p:blipFill>
        <p:spPr>
          <a:xfrm>
            <a:off x="4114800" y="2359800"/>
            <a:ext cx="5486400" cy="426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Sumarizácia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"/>
          <p:cNvPicPr/>
          <p:nvPr/>
        </p:nvPicPr>
        <p:blipFill>
          <a:blip r:embed="rId1"/>
          <a:stretch/>
        </p:blipFill>
        <p:spPr>
          <a:xfrm>
            <a:off x="1828800" y="1296720"/>
            <a:ext cx="4385160" cy="510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Výsledky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7" name=""/>
          <p:cNvGraphicFramePr/>
          <p:nvPr/>
        </p:nvGraphicFramePr>
        <p:xfrm>
          <a:off x="975600" y="1384560"/>
          <a:ext cx="8343360" cy="4346640"/>
        </p:xfrm>
        <a:graphic>
          <a:graphicData uri="http://schemas.openxmlformats.org/drawingml/2006/table">
            <a:tbl>
              <a:tblPr/>
              <a:tblGrid>
                <a:gridCol w="2818080"/>
                <a:gridCol w="1423440"/>
                <a:gridCol w="1531080"/>
                <a:gridCol w="2570760"/>
              </a:tblGrid>
              <a:tr h="25596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  <a:ea typeface="Times New Roman"/>
                      </a:endParaRPr>
                    </a:p>
                    <a:p>
                      <a:pPr algn="ctr"/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Model</a:t>
                      </a:r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Average WER</a:t>
                      </a:r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Average CER</a:t>
                      </a:r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Average transcript ratio</a:t>
                      </a:r>
                      <a:endParaRPr lang="en-US" sz="18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whisper_tiny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0.093299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whisper_base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0.732145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0.279014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0.058864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whisper_small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0.418928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0.131130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0.073705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hf_wav2vec2_xlsr_czech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0.395130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0.083912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0.044117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whisper_medium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0.236012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0.071163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0.130435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f_whisper_medium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0.212571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0.059909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0.136177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vosk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0.174985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0.062967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0.111691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hf_w2v2_xlsr_53_cz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0.164664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0.034609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0.121667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f_whisper_large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0.157542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0.046327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0.153283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groq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0.140364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0.041549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c9211e"/>
                          </a:solidFill>
                          <a:effectLst/>
                          <a:uFillTx/>
                          <a:latin typeface="Arial"/>
                        </a:rPr>
                        <a:t>4.118596</a:t>
                      </a:r>
                      <a:endParaRPr lang="en-US" sz="1800" b="0" u="none" strike="noStrike">
                        <a:solidFill>
                          <a:srgbClr val="c9211e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hf_w2v2_xlsr_cz_sammy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0.137223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0.027456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0.285523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0.119678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0.046064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0.228221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whisper_large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0.112411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0.033205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c9211e"/>
                          </a:solidFill>
                          <a:effectLst/>
                          <a:uFillTx/>
                          <a:latin typeface="Arial"/>
                        </a:rPr>
                        <a:t>2.130816</a:t>
                      </a:r>
                      <a:endParaRPr lang="en-US" sz="1800" b="0" u="none" strike="noStrike">
                        <a:solidFill>
                          <a:srgbClr val="c9211e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hf_whisper_medium_cz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0.091444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0.022634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0.795146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hf_whisper_large_v3_cz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0.044147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0.010847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0.256016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Výsledky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9" name=""/>
          <p:cNvGraphicFramePr/>
          <p:nvPr/>
        </p:nvGraphicFramePr>
        <p:xfrm>
          <a:off x="228600" y="1447200"/>
          <a:ext cx="5843880" cy="35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60" name=""/>
          <p:cNvGraphicFramePr/>
          <p:nvPr/>
        </p:nvGraphicFramePr>
        <p:xfrm>
          <a:off x="6177960" y="1575360"/>
          <a:ext cx="5709240" cy="3225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080" cy="132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sk-SK" sz="36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Zadanie práce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677160" y="1929600"/>
            <a:ext cx="8596080" cy="388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Zoznámiť sa s technologiou Speech-to-text.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Vybrať vhodné dostupné modely pro STT.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Zostaviť metodiku porovnania vybraných modelov.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Vykonať testovanie a porovnanie modelov.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sk-SK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Vhodným spôsobom diskutujte a prezentujte výsledky porovnaní.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Fazeta">
  <a:themeElements>
    <a:clrScheme name="Fazeta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zeta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zeta">
  <a:themeElements>
    <a:clrScheme name="Fazeta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zeta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Fazeta">
  <a:themeElements>
    <a:clrScheme name="Fazeta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zeta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zeta">
  <a:themeElements>
    <a:clrScheme name="Fazeta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zeta">
      <a:majorFont>
        <a:latin typeface="Trebuchet MS" panose="020B0603020202020204" pitchFamily="0" charset="1"/>
        <a:ea typeface=""/>
        <a:cs typeface=""/>
      </a:majorFont>
      <a:minorFont>
        <a:latin typeface="Trebuchet MS" panose="020B0603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525</TotalTime>
  <Application>LibreOffice/25.8.6.2$Linux_X86_64 LibreOffice_project/580$Build-2</Application>
  <AppVersion>15.0000</AppVersion>
  <Words>177</Words>
  <Paragraphs>52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2022-05-29T10:22:00Z</dcterms:created>
  <dc:creator>DAX</dc:creator>
  <dc:description/>
  <dc:language>en-US</dc:language>
  <cp:lastModifiedBy/>
  <dcterms:modified xsi:type="dcterms:W3CDTF">2026-06-08T22:37:16Z</dcterms:modified>
  <cp:revision>35</cp:revision>
  <dc:subject/>
  <dc:title>Prezentace aplikace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3</vt:i4>
  </property>
  <property fmtid="{D5CDD505-2E9C-101B-9397-08002B2CF9AE}" pid="3" name="PresentationFormat">
    <vt:lpwstr>Širokoúhlá obrazovka</vt:lpwstr>
  </property>
  <property fmtid="{D5CDD505-2E9C-101B-9397-08002B2CF9AE}" pid="4" name="Slides">
    <vt:i4>14</vt:i4>
  </property>
</Properties>
</file>